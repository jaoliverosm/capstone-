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02422"/>
                </a:solidFill>
                <a:latin typeface="Arial"/>
              </a:defRPr>
            </a:pPr>
            <a:r>
              <a:rPr lang="es-CO" sz="1400" b="0" i="0" u="none" strike="noStrike">
                <a:solidFill>
                  <a:srgbClr val="102422"/>
                </a:solidFill>
                <a:latin typeface="Arial"/>
              </a:rPr>
              <a:t>AUC-ROC por modelo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AUC-ROC</c:v>
                </c:pt>
              </c:strCache>
            </c:strRef>
          </c:tx>
          <c:spPr>
            <a:solidFill>
              <a:srgbClr val="29D39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8B4-43D1-8CED-E1FDD1A4B363}"/>
              </c:ext>
            </c:extLst>
          </c:dPt>
          <c:dPt>
            <c:idx val="1"/>
            <c:invertIfNegative val="0"/>
            <c:bubble3D val="0"/>
            <c:spPr>
              <a:solidFill>
                <a:srgbClr val="0E7C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8B4-43D1-8CED-E1FDD1A4B363}"/>
              </c:ext>
            </c:extLst>
          </c:dPt>
          <c:dPt>
            <c:idx val="2"/>
            <c:invertIfNegative val="0"/>
            <c:bubble3D val="0"/>
            <c:spPr>
              <a:solidFill>
                <a:srgbClr val="C9CFC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8B4-43D1-8CED-E1FDD1A4B36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02422"/>
                    </a:solidFill>
                    <a:latin typeface="Arial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XGBoost (producción)</c:v>
                </c:pt>
                <c:pt idx="1">
                  <c:v>Random Forest</c:v>
                </c:pt>
                <c:pt idx="2">
                  <c:v>CNN MobileNetV2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0.89829999999999999</c:v>
                </c:pt>
                <c:pt idx="1">
                  <c:v>0.91849999999999998</c:v>
                </c:pt>
                <c:pt idx="2">
                  <c:v>0.67269999999999996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8B4-43D1-8CED-E1FDD1A4B36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726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</c:scaling>
        <c:delete val="0"/>
        <c:axPos val="b"/>
        <c:majorGridlines>
          <c:spPr>
            <a:ln w="9525" cap="flat">
              <a:solidFill>
                <a:srgbClr val="E7EC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26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95028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754880" cy="4754880"/>
          </a:xfrm>
          <a:prstGeom prst="ellipse">
            <a:avLst/>
          </a:prstGeom>
          <a:solidFill>
            <a:srgbClr val="0E7C86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3291840"/>
            <a:ext cx="3108960" cy="3108960"/>
          </a:xfrm>
          <a:prstGeom prst="ellipse">
            <a:avLst/>
          </a:prstGeom>
          <a:solidFill>
            <a:srgbClr val="29D398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4480560"/>
            <a:ext cx="1828800" cy="1828800"/>
          </a:xfrm>
          <a:prstGeom prst="ellipse">
            <a:avLst/>
          </a:prstGeom>
          <a:solidFill>
            <a:srgbClr val="F2A623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9D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 —  SISTEMAS INTELIGENTES Y COMPUTACIONALES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0" b="1" dirty="0">
                <a:solidFill>
                  <a:srgbClr val="F2F7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</a:t>
            </a:r>
            <a:endParaRPr lang="en-US" sz="840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29D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 Médico Digital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361188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FC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predictiva de inconsistencias en prefacturación mediante inteligencia artificial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5943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9FC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SICortex — Samsung Innovation Campus &amp; Universidad del Rosario
</a:t>
            </a:r>
            <a:r>
              <a:rPr lang="en-US" sz="1300" dirty="0">
                <a:solidFill>
                  <a:srgbClr val="9FC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empresarial: Health &amp; Life IPS SAS  ·  Agosto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0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problema: inconsistencias en prefacturación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577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5C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Life IPS SAS enfrenta inconsistencias entre lo registrado en la historia clínica (HC) y lo efectivamente facturado a las EPS. La auditoría actual es retrospectiva — ocurre después del envío a cobro — lo que limita la corrección preventiva.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46520" y="1828800"/>
            <a:ext cx="5212080" cy="1417320"/>
          </a:xfrm>
          <a:prstGeom prst="roundRect">
            <a:avLst>
              <a:gd name="adj" fmla="val 6452"/>
            </a:avLst>
          </a:prstGeom>
          <a:solidFill>
            <a:srgbClr val="EEF4F3"/>
          </a:solidFill>
          <a:ln/>
        </p:spPr>
      </p:sp>
      <p:sp>
        <p:nvSpPr>
          <p:cNvPr id="6" name="Shape 4"/>
          <p:cNvSpPr/>
          <p:nvPr/>
        </p:nvSpPr>
        <p:spPr>
          <a:xfrm>
            <a:off x="6702552" y="2084832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6522" y="2298802"/>
            <a:ext cx="395021" cy="39502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26680" y="201168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Glosas por sobrefacturación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26680" y="2395728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facturados sin soporte clínico real, rechazados por las EPS.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46520" y="3520440"/>
            <a:ext cx="5212080" cy="1417320"/>
          </a:xfrm>
          <a:prstGeom prst="roundRect">
            <a:avLst>
              <a:gd name="adj" fmla="val 6452"/>
            </a:avLst>
          </a:prstGeom>
          <a:solidFill>
            <a:srgbClr val="EEF4F3"/>
          </a:solidFill>
          <a:ln/>
        </p:spPr>
      </p:sp>
      <p:sp>
        <p:nvSpPr>
          <p:cNvPr id="11" name="Shape 8"/>
          <p:cNvSpPr/>
          <p:nvPr/>
        </p:nvSpPr>
        <p:spPr>
          <a:xfrm>
            <a:off x="6702552" y="3776472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6522" y="3990442"/>
            <a:ext cx="395021" cy="39502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726680" y="370332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Fugas de ingresos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726680" y="4087368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Procedimientos realizados y registrados en HC que no aparecen en la prefactura.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534924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0B2E33"/>
          </a:solidFill>
          <a:ln/>
        </p:spPr>
      </p:sp>
      <p:sp>
        <p:nvSpPr>
          <p:cNvPr id="16" name="Text 12"/>
          <p:cNvSpPr/>
          <p:nvPr/>
        </p:nvSpPr>
        <p:spPr>
          <a:xfrm>
            <a:off x="868680" y="53492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29D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del proyecto   </a:t>
            </a:r>
            <a:r>
              <a:rPr lang="en-US" sz="1400" dirty="0">
                <a:solidFill>
                  <a:srgbClr val="F2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un modelo de IA que detecte inconsistencias antes del envío a cobro, entre el 13 de julio y el 4 de agosto de 2026.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9D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ESPERADO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2F7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buscamos lograr?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123C43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0574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9D3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68680" y="26517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 Glosas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301752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9FC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temprana de servicios sin soporte clínico antes del cobro a las EPS.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182880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123C4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20574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9D3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537960" y="26517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Recuperación de Ingresos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37960" y="301752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9FC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automática de procedimientos realizados pero no facturados.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123C43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2062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9D3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68680" y="48006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Eficiencia Operativa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68680" y="516636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9FC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Priorización automática de casos de alto riesgo para revisión manual, reduciendo carga del equipo auditor.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17920" y="397764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123C43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42062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9D3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537960" y="48006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Transición Preventiva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537960" y="516636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9FC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Reemplazo de auditoría retrospectiva por validación temprana antes del envío a cobro.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Fuentes de datos e ingeniería de variables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integradas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3321586"/>
              </p:ext>
            </p:extLst>
          </p:nvPr>
        </p:nvGraphicFramePr>
        <p:xfrm>
          <a:off x="548640" y="2194560"/>
          <a:ext cx="5029200" cy="2286000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0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Pacientes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0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0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Atenciones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0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0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Historia Clínica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s-CO" sz="1400" dirty="0"/>
                        <a:t>3,058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0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Prefacturación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s-CO" sz="1400" dirty="0"/>
                        <a:t>2,974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Tabla de Cruce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s-CO" sz="1400" b="1" dirty="0">
                          <a:solidFill>
                            <a:srgbClr val="00B0F0"/>
                          </a:solidFill>
                        </a:rPr>
                        <a:t>7,532</a:t>
                      </a:r>
                      <a:endParaRPr lang="en-US" sz="1300" dirty="0">
                        <a:solidFill>
                          <a:srgbClr val="00B0F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989320" y="17830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Transformaciones clave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989320" y="2194560"/>
            <a:ext cx="5669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5C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Limpieza: </a:t>
            </a:r>
            <a:r>
              <a:rPr lang="en-US" sz="1300" dirty="0">
                <a:solidFill>
                  <a:srgbClr val="5C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nulos numéricos → 0; categóricos → "SIN_DATO".
</a:t>
            </a:r>
            <a:r>
              <a:rPr lang="en-US" sz="1300" b="1" dirty="0">
                <a:solidFill>
                  <a:srgbClr val="5C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creadas: </a:t>
            </a:r>
            <a:r>
              <a:rPr lang="en-US" sz="1300" dirty="0">
                <a:solidFill>
                  <a:srgbClr val="5C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coincidencia de código CUPS, diferencia de cantidades, ratio, presencia de soporte clínico y días de diferencia.
</a:t>
            </a:r>
            <a:r>
              <a:rPr lang="en-US" sz="1300" b="1" dirty="0">
                <a:solidFill>
                  <a:srgbClr val="5C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Exclusión: </a:t>
            </a:r>
            <a:r>
              <a:rPr lang="en-US" sz="1300" dirty="0">
                <a:solidFill>
                  <a:srgbClr val="5C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excluyen columnas filtrantes (tipo de alerta, severidad).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989320" y="4069080"/>
            <a:ext cx="5669280" cy="1051560"/>
          </a:xfrm>
          <a:prstGeom prst="roundRect">
            <a:avLst>
              <a:gd name="adj" fmla="val 6957"/>
            </a:avLst>
          </a:prstGeom>
          <a:solidFill>
            <a:srgbClr val="EEF4F3"/>
          </a:solidFill>
          <a:ln/>
        </p:spPr>
      </p:sp>
      <p:sp>
        <p:nvSpPr>
          <p:cNvPr id="9" name="Text 6"/>
          <p:cNvSpPr/>
          <p:nvPr/>
        </p:nvSpPr>
        <p:spPr>
          <a:xfrm>
            <a:off x="6263640" y="4069080"/>
            <a:ext cx="5120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clave  </a:t>
            </a:r>
            <a:r>
              <a:rPr lang="en-US" sz="1250" dirty="0">
                <a:solidFill>
                  <a:srgbClr val="10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coincide_codigo_cups concentra el 65.7% de la importancia en XGBoost — no es fuga de datos: ambos valores están disponibles antes del envío a cobro.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9D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CNN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2F7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Conversión tabular → imagen para MobileNetV2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3017520" cy="1371600"/>
          </a:xfrm>
          <a:prstGeom prst="roundRect">
            <a:avLst>
              <a:gd name="adj" fmla="val 6667"/>
            </a:avLst>
          </a:prstGeom>
          <a:solidFill>
            <a:srgbClr val="123C43"/>
          </a:solidFill>
          <a:ln w="12700">
            <a:solidFill>
              <a:srgbClr val="29D39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65960" y="2450592"/>
            <a:ext cx="731520" cy="731520"/>
          </a:xfrm>
          <a:prstGeom prst="ellipse">
            <a:avLst/>
          </a:prstGeom>
          <a:solidFill>
            <a:srgbClr val="0B2E3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6155" y="2640787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200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Preprocesado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950208" y="2807208"/>
            <a:ext cx="603504" cy="329184"/>
          </a:xfrm>
          <a:prstGeom prst="rightArrow">
            <a:avLst/>
          </a:prstGeom>
          <a:solidFill>
            <a:srgbClr val="29D398"/>
          </a:solidFill>
          <a:ln/>
        </p:spPr>
      </p:sp>
      <p:sp>
        <p:nvSpPr>
          <p:cNvPr id="9" name="Shape 6"/>
          <p:cNvSpPr/>
          <p:nvPr/>
        </p:nvSpPr>
        <p:spPr>
          <a:xfrm>
            <a:off x="4663440" y="2286000"/>
            <a:ext cx="3017520" cy="1371600"/>
          </a:xfrm>
          <a:prstGeom prst="roundRect">
            <a:avLst>
              <a:gd name="adj" fmla="val 6667"/>
            </a:avLst>
          </a:prstGeom>
          <a:solidFill>
            <a:srgbClr val="123C43"/>
          </a:solidFill>
          <a:ln w="12700">
            <a:solidFill>
              <a:srgbClr val="29D39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06440" y="2450592"/>
            <a:ext cx="731520" cy="731520"/>
          </a:xfrm>
          <a:prstGeom prst="ellipse">
            <a:avLst/>
          </a:prstGeom>
          <a:solidFill>
            <a:srgbClr val="0B2E33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6635" y="2640787"/>
            <a:ext cx="351130" cy="3511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3200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Codificación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7790688" y="2807208"/>
            <a:ext cx="603504" cy="329184"/>
          </a:xfrm>
          <a:prstGeom prst="rightArrow">
            <a:avLst/>
          </a:prstGeom>
          <a:solidFill>
            <a:srgbClr val="29D398"/>
          </a:solidFill>
          <a:ln/>
        </p:spPr>
      </p:sp>
      <p:sp>
        <p:nvSpPr>
          <p:cNvPr id="14" name="Shape 10"/>
          <p:cNvSpPr/>
          <p:nvPr/>
        </p:nvSpPr>
        <p:spPr>
          <a:xfrm>
            <a:off x="8503920" y="2286000"/>
            <a:ext cx="3017520" cy="1371600"/>
          </a:xfrm>
          <a:prstGeom prst="roundRect">
            <a:avLst>
              <a:gd name="adj" fmla="val 6667"/>
            </a:avLst>
          </a:prstGeom>
          <a:solidFill>
            <a:srgbClr val="123C43"/>
          </a:solidFill>
          <a:ln w="12700">
            <a:solidFill>
              <a:srgbClr val="29D39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646920" y="2450592"/>
            <a:ext cx="731520" cy="731520"/>
          </a:xfrm>
          <a:prstGeom prst="ellipse">
            <a:avLst/>
          </a:prstGeom>
          <a:solidFill>
            <a:srgbClr val="0B2E33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7115" y="2640787"/>
            <a:ext cx="351130" cy="3511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03920" y="3200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→ CNN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822960" y="4251960"/>
            <a:ext cx="10515600" cy="1874520"/>
          </a:xfrm>
          <a:prstGeom prst="roundRect">
            <a:avLst>
              <a:gd name="adj" fmla="val 3902"/>
            </a:avLst>
          </a:prstGeom>
          <a:solidFill>
            <a:srgbClr val="123C43"/>
          </a:solidFill>
          <a:ln/>
        </p:spPr>
      </p:sp>
      <p:sp>
        <p:nvSpPr>
          <p:cNvPr id="19" name="Text 14"/>
          <p:cNvSpPr/>
          <p:nvPr/>
        </p:nvSpPr>
        <p:spPr>
          <a:xfrm>
            <a:off x="1143000" y="4251960"/>
            <a:ext cx="98755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29D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columnas numéricas: </a:t>
            </a:r>
            <a:r>
              <a:rPr lang="en-US" sz="1300" dirty="0">
                <a:solidFill>
                  <a:srgbClr val="9FC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edad, cantidad realizada, cantidad facturada, valor unitario, valor total y mes de atención.
</a:t>
            </a:r>
            <a:r>
              <a:rPr lang="en-US" sz="1300" b="1" dirty="0">
                <a:solidFill>
                  <a:srgbClr val="29D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columnas categóricas → 111 features (One-Hot Encoding): </a:t>
            </a:r>
            <a:r>
              <a:rPr lang="en-US" sz="1300" dirty="0">
                <a:solidFill>
                  <a:srgbClr val="9FC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sexo, EPS, tipo de afiliación, ciudad, tipo de documento, tipo de atención, sede, tipo de ítem, soporte clínico, grupo etario, diagnóstico principal CIE-10, médico tratante y profesional responsable.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enfoques de IA implementados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737360"/>
          <a:ext cx="60350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858000" y="1737360"/>
            <a:ext cx="4800600" cy="1051560"/>
          </a:xfrm>
          <a:prstGeom prst="roundRect">
            <a:avLst>
              <a:gd name="adj" fmla="val 6087"/>
            </a:avLst>
          </a:prstGeom>
          <a:solidFill>
            <a:srgbClr val="EEF4F3"/>
          </a:solidFill>
          <a:ln/>
        </p:spPr>
      </p:sp>
      <p:sp>
        <p:nvSpPr>
          <p:cNvPr id="6" name="Text 3"/>
          <p:cNvSpPr/>
          <p:nvPr/>
        </p:nvSpPr>
        <p:spPr>
          <a:xfrm>
            <a:off x="7086600" y="181051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MobileNetV2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086600" y="2103120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con imágenes sintéticas 32×32. Fine-tuning en dos fases, focal loss para desbalance (20.8% positivos). Requisito curricular del curso.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858000" y="2916936"/>
            <a:ext cx="4800600" cy="1051560"/>
          </a:xfrm>
          <a:prstGeom prst="roundRect">
            <a:avLst>
              <a:gd name="adj" fmla="val 6087"/>
            </a:avLst>
          </a:prstGeom>
          <a:solidFill>
            <a:srgbClr val="EEF4F3"/>
          </a:solidFill>
          <a:ln/>
        </p:spPr>
      </p:sp>
      <p:sp>
        <p:nvSpPr>
          <p:cNvPr id="9" name="Text 6"/>
          <p:cNvSpPr/>
          <p:nvPr/>
        </p:nvSpPr>
        <p:spPr>
          <a:xfrm>
            <a:off x="7086600" y="299008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086600" y="3282696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árboles, class_weight balanceado. Punto de referencia tabular clásico para evaluar si migrar de CNN a modelo tabular puro.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858000" y="4096512"/>
            <a:ext cx="4800600" cy="1051560"/>
          </a:xfrm>
          <a:prstGeom prst="roundRect">
            <a:avLst>
              <a:gd name="adj" fmla="val 6087"/>
            </a:avLst>
          </a:prstGeom>
          <a:solidFill>
            <a:srgbClr val="EEF4F3"/>
          </a:solidFill>
          <a:ln/>
        </p:spPr>
      </p:sp>
      <p:sp>
        <p:nvSpPr>
          <p:cNvPr id="12" name="Text 9"/>
          <p:cNvSpPr/>
          <p:nvPr/>
        </p:nvSpPr>
        <p:spPr>
          <a:xfrm>
            <a:off x="7086600" y="4169664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— Modelo Final ⭐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086600" y="4462272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optimizado con búsqueda de hiperparámetros y validación cruzada 5-fold. Mejor desempeño global: AUC-ROC = 0.898.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858000" y="5276088"/>
            <a:ext cx="4800600" cy="1051560"/>
          </a:xfrm>
          <a:prstGeom prst="roundRect">
            <a:avLst>
              <a:gd name="adj" fmla="val 6087"/>
            </a:avLst>
          </a:prstGeom>
          <a:solidFill>
            <a:srgbClr val="EEF4F3"/>
          </a:solidFill>
          <a:ln/>
        </p:spPr>
      </p:sp>
      <p:sp>
        <p:nvSpPr>
          <p:cNvPr id="15" name="Text 12"/>
          <p:cNvSpPr/>
          <p:nvPr/>
        </p:nvSpPr>
        <p:spPr>
          <a:xfrm>
            <a:off x="7086600" y="534924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Nemotron-3-nano-8B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7086600" y="5641848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de 8B parámetros vía API. Genera análisis con razonamiento clínico explicativo. Capa de validación cualitativa complementaria.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9D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7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del sistema 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94944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</p:spPr>
      </p:sp>
      <p:pic>
        <p:nvPicPr>
          <p:cNvPr id="5" name="Image 0" descr="/home/claude/pipelin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65960"/>
            <a:ext cx="649224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0" y="17373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9D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Frontend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0" y="210312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9FC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 3.11) + Uvicorn, puerto 8000. Base de datos SQLite (linea.db), migrable a SQL Server o MySQL. Frontend HTML5 + JavaScript con Tailwind CSS.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772400" y="3291840"/>
            <a:ext cx="3931920" cy="713232"/>
          </a:xfrm>
          <a:prstGeom prst="roundRect">
            <a:avLst>
              <a:gd name="adj" fmla="val 7692"/>
            </a:avLst>
          </a:prstGeom>
          <a:solidFill>
            <a:srgbClr val="123C43"/>
          </a:solidFill>
          <a:ln/>
        </p:spPr>
      </p:sp>
      <p:sp>
        <p:nvSpPr>
          <p:cNvPr id="9" name="Text 6"/>
          <p:cNvSpPr/>
          <p:nvPr/>
        </p:nvSpPr>
        <p:spPr>
          <a:xfrm>
            <a:off x="7936992" y="33649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9D3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936992" y="36210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2F7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/api/health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936992" y="38221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C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del servidor y modelo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7772400" y="4096512"/>
            <a:ext cx="3931920" cy="713232"/>
          </a:xfrm>
          <a:prstGeom prst="roundRect">
            <a:avLst>
              <a:gd name="adj" fmla="val 7692"/>
            </a:avLst>
          </a:prstGeom>
          <a:solidFill>
            <a:srgbClr val="123C43"/>
          </a:solidFill>
          <a:ln/>
        </p:spPr>
      </p:sp>
      <p:sp>
        <p:nvSpPr>
          <p:cNvPr id="13" name="Text 10"/>
          <p:cNvSpPr/>
          <p:nvPr/>
        </p:nvSpPr>
        <p:spPr>
          <a:xfrm>
            <a:off x="7936992" y="416966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9D3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936992" y="44256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2F7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/api/prefactura/analizar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936992" y="462686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C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individual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7772400" y="4901184"/>
            <a:ext cx="3931920" cy="713232"/>
          </a:xfrm>
          <a:prstGeom prst="roundRect">
            <a:avLst>
              <a:gd name="adj" fmla="val 7692"/>
            </a:avLst>
          </a:prstGeom>
          <a:solidFill>
            <a:srgbClr val="123C43"/>
          </a:solidFill>
          <a:ln/>
        </p:spPr>
      </p:sp>
      <p:sp>
        <p:nvSpPr>
          <p:cNvPr id="17" name="Text 14"/>
          <p:cNvSpPr/>
          <p:nvPr/>
        </p:nvSpPr>
        <p:spPr>
          <a:xfrm>
            <a:off x="7936992" y="497433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9D3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936992" y="5230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2F7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/api/prefactura/analizar-lote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7936992" y="543153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C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Importación masiva (20,000 reg.)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7772400" y="5705856"/>
            <a:ext cx="3931920" cy="713232"/>
          </a:xfrm>
          <a:prstGeom prst="roundRect">
            <a:avLst>
              <a:gd name="adj" fmla="val 7692"/>
            </a:avLst>
          </a:prstGeom>
          <a:solidFill>
            <a:srgbClr val="123C43"/>
          </a:solidFill>
          <a:ln/>
        </p:spPr>
      </p:sp>
      <p:sp>
        <p:nvSpPr>
          <p:cNvPr id="21" name="Text 18"/>
          <p:cNvSpPr/>
          <p:nvPr/>
        </p:nvSpPr>
        <p:spPr>
          <a:xfrm>
            <a:off x="7936992" y="577900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9D3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936992" y="6035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2F7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/api/paciente/{id}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7936992" y="623620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C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 de paciente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Impacto financiero y desempeño del modelo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822960" cy="822960"/>
          </a:xfrm>
          <a:prstGeom prst="ellipse">
            <a:avLst/>
          </a:prstGeom>
          <a:solidFill>
            <a:srgbClr val="EEF4F3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610" y="204277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78308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2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$78,046,000 COP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1554480" y="26060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5C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152 procedimientos con soporte clínico sin facturar (fuga de ingreso), sobre un dataset de 3,126 cruces HC-prefactura.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554480" y="31089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C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 conservadora (promedio simple de ítems facturados, $287,476/ítem): $43,696,371 COP.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7490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EEF4F3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38404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0.898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548640" y="437083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063240" y="37490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EEF4F3"/>
          </a:solidFill>
          <a:ln/>
        </p:spPr>
      </p:sp>
      <p:sp>
        <p:nvSpPr>
          <p:cNvPr id="13" name="Text 10"/>
          <p:cNvSpPr/>
          <p:nvPr/>
        </p:nvSpPr>
        <p:spPr>
          <a:xfrm>
            <a:off x="3063240" y="38404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99.2%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3063240" y="437083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577840" y="37490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EEF4F3"/>
          </a:solidFill>
          <a:ln/>
        </p:spPr>
      </p:sp>
      <p:sp>
        <p:nvSpPr>
          <p:cNvPr id="16" name="Text 13"/>
          <p:cNvSpPr/>
          <p:nvPr/>
        </p:nvSpPr>
        <p:spPr>
          <a:xfrm>
            <a:off x="5577840" y="38404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0.786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5577840" y="437083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48640" y="5074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alertas detectadas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48640" y="5486400"/>
            <a:ext cx="2578608" cy="384048"/>
          </a:xfrm>
          <a:prstGeom prst="roundRect">
            <a:avLst>
              <a:gd name="adj" fmla="val 50000"/>
            </a:avLst>
          </a:prstGeom>
          <a:solidFill>
            <a:srgbClr val="0B2E33"/>
          </a:solidFill>
          <a:ln/>
        </p:spPr>
      </p:sp>
      <p:sp>
        <p:nvSpPr>
          <p:cNvPr id="20" name="Text 17"/>
          <p:cNvSpPr/>
          <p:nvPr/>
        </p:nvSpPr>
        <p:spPr>
          <a:xfrm>
            <a:off x="548640" y="5486400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2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SIN_SOPORTE_CLINICO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3264408" y="5486400"/>
            <a:ext cx="2459736" cy="384048"/>
          </a:xfrm>
          <a:prstGeom prst="roundRect">
            <a:avLst>
              <a:gd name="adj" fmla="val 50000"/>
            </a:avLst>
          </a:prstGeom>
          <a:solidFill>
            <a:srgbClr val="0B2E33"/>
          </a:solidFill>
          <a:ln/>
        </p:spPr>
      </p:sp>
      <p:sp>
        <p:nvSpPr>
          <p:cNvPr id="22" name="Text 19"/>
          <p:cNvSpPr/>
          <p:nvPr/>
        </p:nvSpPr>
        <p:spPr>
          <a:xfrm>
            <a:off x="3264408" y="5486400"/>
            <a:ext cx="2459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2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CODIGO_NO_COINCIDE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861304" y="5486400"/>
            <a:ext cx="2697480" cy="384048"/>
          </a:xfrm>
          <a:prstGeom prst="roundRect">
            <a:avLst>
              <a:gd name="adj" fmla="val 50000"/>
            </a:avLst>
          </a:prstGeom>
          <a:solidFill>
            <a:srgbClr val="0B2E33"/>
          </a:solidFill>
          <a:ln/>
        </p:spPr>
      </p:sp>
      <p:sp>
        <p:nvSpPr>
          <p:cNvPr id="24" name="Text 21"/>
          <p:cNvSpPr/>
          <p:nvPr/>
        </p:nvSpPr>
        <p:spPr>
          <a:xfrm>
            <a:off x="5861304" y="548640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2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CANTIDAD_DISCORDANTE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8695944" y="5486400"/>
            <a:ext cx="1746504" cy="384048"/>
          </a:xfrm>
          <a:prstGeom prst="roundRect">
            <a:avLst>
              <a:gd name="adj" fmla="val 50000"/>
            </a:avLst>
          </a:prstGeom>
          <a:solidFill>
            <a:srgbClr val="0B2E33"/>
          </a:solidFill>
          <a:ln/>
        </p:spPr>
      </p:sp>
      <p:sp>
        <p:nvSpPr>
          <p:cNvPr id="26" name="Text 23"/>
          <p:cNvSpPr/>
          <p:nvPr/>
        </p:nvSpPr>
        <p:spPr>
          <a:xfrm>
            <a:off x="8695944" y="5486400"/>
            <a:ext cx="1746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2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NO_FACTURADO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10579608" y="5486400"/>
            <a:ext cx="3410712" cy="384048"/>
          </a:xfrm>
          <a:prstGeom prst="roundRect">
            <a:avLst>
              <a:gd name="adj" fmla="val 50000"/>
            </a:avLst>
          </a:prstGeom>
          <a:solidFill>
            <a:srgbClr val="0B2E33"/>
          </a:solidFill>
          <a:ln/>
        </p:spPr>
      </p:sp>
      <p:sp>
        <p:nvSpPr>
          <p:cNvPr id="28" name="Text 25"/>
          <p:cNvSpPr/>
          <p:nvPr/>
        </p:nvSpPr>
        <p:spPr>
          <a:xfrm>
            <a:off x="10579608" y="5486400"/>
            <a:ext cx="3410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2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DIAGNOSTICO_NO_RELACIONADO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9D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ÉTICA &amp; EQUIPO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2F7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Consideraciones éticas y equipo SICortex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rgbClr val="123C43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1976201"/>
            <a:ext cx="272125" cy="2721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81051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2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 de datos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280160" y="210312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9FC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almacenan datos personales identificables en el modelo; SQLite migrable a servidores seguros.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2907792"/>
            <a:ext cx="566928" cy="566928"/>
          </a:xfrm>
          <a:prstGeom prst="ellipse">
            <a:avLst/>
          </a:prstGeom>
          <a:solidFill>
            <a:srgbClr val="123C43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041" y="3055193"/>
            <a:ext cx="272125" cy="2721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288950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2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 de sesgos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280160" y="3182112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9FC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por edad, sexo y EPS; monitoreo continuo en producción.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48640" y="3986784"/>
            <a:ext cx="566928" cy="566928"/>
          </a:xfrm>
          <a:prstGeom prst="ellipse">
            <a:avLst/>
          </a:prstGeom>
          <a:solidFill>
            <a:srgbClr val="123C43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041" y="4134185"/>
            <a:ext cx="272125" cy="2721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396849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2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Transparencia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1280160" y="4261104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9FC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documentado, Nemotron con razonamiento explicativo, reglas verificables.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123C43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041" y="5213177"/>
            <a:ext cx="272125" cy="27212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80160" y="504748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2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280160" y="5340096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9FC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apoya pero no reemplaza el juicio clínico; casos inciertos van a revisión manual.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6263640" y="1783080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1" name="Text 15"/>
          <p:cNvSpPr/>
          <p:nvPr/>
        </p:nvSpPr>
        <p:spPr>
          <a:xfrm>
            <a:off x="62636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6903720" y="176479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Jefersson Oliveros — Líder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6903720" y="204825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9FC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Arquitectura, modelos CNN/XGBoost, integración Nemotron, interfaz visual.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263640" y="2679192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5" name="Text 19"/>
          <p:cNvSpPr/>
          <p:nvPr/>
        </p:nvSpPr>
        <p:spPr>
          <a:xfrm>
            <a:off x="6263640" y="2679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6903720" y="266090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Jazmine Acosta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6903720" y="294436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9FC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metodológica, control de calidad del pipeline.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6263640" y="3575304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9" name="Text 23"/>
          <p:cNvSpPr/>
          <p:nvPr/>
        </p:nvSpPr>
        <p:spPr>
          <a:xfrm>
            <a:off x="6263640" y="35753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6903720" y="355701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Isabella Cuesta</a:t>
            </a:r>
            <a:endParaRPr lang="en-US" sz="1250" dirty="0"/>
          </a:p>
        </p:txBody>
      </p:sp>
      <p:sp>
        <p:nvSpPr>
          <p:cNvPr id="31" name="Text 25"/>
          <p:cNvSpPr/>
          <p:nvPr/>
        </p:nvSpPr>
        <p:spPr>
          <a:xfrm>
            <a:off x="6903720" y="38404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9FC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 de datasets y organización de datos para entrenamiento.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6263640" y="4471416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3" name="Text 27"/>
          <p:cNvSpPr/>
          <p:nvPr/>
        </p:nvSpPr>
        <p:spPr>
          <a:xfrm>
            <a:off x="6263640" y="44714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6903720" y="445312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Catalina Pantoja</a:t>
            </a:r>
            <a:endParaRPr lang="en-US" sz="1250" dirty="0"/>
          </a:p>
        </p:txBody>
      </p:sp>
      <p:sp>
        <p:nvSpPr>
          <p:cNvPr id="35" name="Text 29"/>
          <p:cNvSpPr/>
          <p:nvPr/>
        </p:nvSpPr>
        <p:spPr>
          <a:xfrm>
            <a:off x="6903720" y="473659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9FC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de Random Forest y análisis de hallazgos.</a:t>
            </a:r>
            <a:endParaRPr lang="en-US" sz="1050" dirty="0"/>
          </a:p>
        </p:txBody>
      </p:sp>
      <p:sp>
        <p:nvSpPr>
          <p:cNvPr id="36" name="Shape 30"/>
          <p:cNvSpPr/>
          <p:nvPr/>
        </p:nvSpPr>
        <p:spPr>
          <a:xfrm>
            <a:off x="6263640" y="5367528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7" name="Text 31"/>
          <p:cNvSpPr/>
          <p:nvPr/>
        </p:nvSpPr>
        <p:spPr>
          <a:xfrm>
            <a:off x="6263640" y="5367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</a:t>
            </a:r>
            <a:endParaRPr lang="en-US" sz="1100" dirty="0"/>
          </a:p>
        </p:txBody>
      </p:sp>
      <p:sp>
        <p:nvSpPr>
          <p:cNvPr id="38" name="Text 32"/>
          <p:cNvSpPr/>
          <p:nvPr/>
        </p:nvSpPr>
        <p:spPr>
          <a:xfrm>
            <a:off x="6903720" y="53492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Iván Cristancho</a:t>
            </a:r>
            <a:endParaRPr lang="en-US" sz="1250" dirty="0"/>
          </a:p>
        </p:txBody>
      </p:sp>
      <p:sp>
        <p:nvSpPr>
          <p:cNvPr id="39" name="Text 33"/>
          <p:cNvSpPr/>
          <p:nvPr/>
        </p:nvSpPr>
        <p:spPr>
          <a:xfrm>
            <a:off x="6903720" y="563270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9FC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 de repositorio GitHub e integración de modelos.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0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Logros y próximos pasos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EEF4F3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3911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2181758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03911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0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Producción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68680" y="269748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C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seleccionado para producción: AUC-ROC = 0.898, precisión = 99.2%. CNN disponible como alternativa comparativa y cumplimiento curricular.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17920" y="178308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EEF4F3"/>
          </a:solidFill>
          <a:ln/>
        </p:spPr>
      </p:sp>
      <p:sp>
        <p:nvSpPr>
          <p:cNvPr id="10" name="Shape 7"/>
          <p:cNvSpPr/>
          <p:nvPr/>
        </p:nvSpPr>
        <p:spPr>
          <a:xfrm>
            <a:off x="6492240" y="203911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4886" y="2181758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203911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0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Completa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6537960" y="269748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C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con análisis individual e importación masiva de hasta 20,000 registros, selector de modelos sincronizado y filtros por recomendación.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88620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EEF4F3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14223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4284878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414223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0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Potencial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68680" y="480060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C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 glosas, recuperación de ingresos no facturados y transición de auditoría retrospectiva a validación preventiva.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17920" y="388620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EEF4F3"/>
          </a:solidFill>
          <a:ln/>
        </p:spPr>
      </p:sp>
      <p:sp>
        <p:nvSpPr>
          <p:cNvPr id="20" name="Shape 15"/>
          <p:cNvSpPr/>
          <p:nvPr/>
        </p:nvSpPr>
        <p:spPr>
          <a:xfrm>
            <a:off x="6492240" y="414223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4886" y="4284878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23760" y="414223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0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 para Producción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6537960" y="480060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C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migrable a SQL Server o MySQL. Documentación técnica completa y repositorio público disponibles.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48640" y="5806440"/>
            <a:ext cx="11091672" cy="0"/>
          </a:xfrm>
          <a:prstGeom prst="line">
            <a:avLst/>
          </a:prstGeom>
          <a:noFill/>
          <a:ln w="12700">
            <a:solidFill>
              <a:srgbClr val="DDE7E5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548640" y="58978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Documentación: Google Drive   ·   💻 Código: GitHub   ·   🔗 Workflow: interactivo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548640" y="619963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desarrollado para Health &amp; Life IPS SAS — Capstone Sistemas Inteligentes y Computacionales 2025 — Samsung Innovation Campus &amp; Universidad del Rosario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983</Words>
  <Application>Microsoft Office PowerPoint</Application>
  <PresentationFormat>Panorámica</PresentationFormat>
  <Paragraphs>142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aldair monroy</cp:lastModifiedBy>
  <cp:revision>2</cp:revision>
  <dcterms:created xsi:type="dcterms:W3CDTF">2026-08-03T11:33:56Z</dcterms:created>
  <dcterms:modified xsi:type="dcterms:W3CDTF">2026-08-03T13:30:10Z</dcterms:modified>
</cp:coreProperties>
</file>